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991415a1d8e46ae" /><Relationship Type="http://schemas.openxmlformats.org/officeDocument/2006/relationships/extended-properties" Target="/docProps/app.xml" Id="R6cbb78b7474d4ede" /><Relationship Type="http://schemas.openxmlformats.org/officeDocument/2006/relationships/officeDocument" Target="/ppt/presentation.xml" Id="R8de6a186caea48c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d6651c5ffdc4f03"/>
  </p:sldMasterIdLst>
  <p:notesMasterIdLst>
    <p:notesMasterId xmlns:r="http://schemas.openxmlformats.org/officeDocument/2006/relationships" r:id="R3b33c07124c54229"/>
  </p:notesMasterIdLst>
  <p:sldIdLst>
    <p:sldId xmlns:r="http://schemas.openxmlformats.org/officeDocument/2006/relationships" id="256" r:id="Reb677f8b139b4313"/>
    <p:sldId xmlns:r="http://schemas.openxmlformats.org/officeDocument/2006/relationships" id="257" r:id="Rabf4c075cbad4d11"/>
    <p:sldId xmlns:r="http://schemas.openxmlformats.org/officeDocument/2006/relationships" id="258" r:id="R5cbbb7b4e8554eeb"/>
    <p:sldId xmlns:r="http://schemas.openxmlformats.org/officeDocument/2006/relationships" id="259" r:id="R2cc4b4f9072c4495"/>
    <p:sldId xmlns:r="http://schemas.openxmlformats.org/officeDocument/2006/relationships" id="260" r:id="R54aa98614e6a4e2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55d9793b9484402" /><Relationship Type="http://schemas.openxmlformats.org/officeDocument/2006/relationships/slideMaster" Target="/ppt/slideMasters/slideMaster1.xml" Id="R2d6651c5ffdc4f03" /><Relationship Type="http://schemas.openxmlformats.org/officeDocument/2006/relationships/notesMaster" Target="/ppt/notesMasters/notesMaster1.xml" Id="R3b33c07124c54229" /><Relationship Type="http://schemas.openxmlformats.org/officeDocument/2006/relationships/presProps" Target="/ppt/presProps.xml" Id="Ref1f2147c95741ab" /><Relationship Type="http://schemas.openxmlformats.org/officeDocument/2006/relationships/tableStyles" Target="/ppt/tableStyles.xml" Id="R00524c5644cb4c3d" /><Relationship Type="http://schemas.openxmlformats.org/officeDocument/2006/relationships/slide" Target="/ppt/slides/slide1.xml" Id="Reb677f8b139b4313" /><Relationship Type="http://schemas.openxmlformats.org/officeDocument/2006/relationships/slide" Target="/ppt/slides/slide2.xml" Id="Rabf4c075cbad4d11" /><Relationship Type="http://schemas.openxmlformats.org/officeDocument/2006/relationships/slide" Target="/ppt/slides/slide3.xml" Id="R5cbbb7b4e8554eeb" /><Relationship Type="http://schemas.openxmlformats.org/officeDocument/2006/relationships/slide" Target="/ppt/slides/slide4.xml" Id="R2cc4b4f9072c4495" /><Relationship Type="http://schemas.openxmlformats.org/officeDocument/2006/relationships/slide" Target="/ppt/slides/slide5.xml" Id="R54aa98614e6a4e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f7fbbae74c645a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6269e639dbb4a9a" /><Relationship Type="http://schemas.openxmlformats.org/officeDocument/2006/relationships/notesMaster" Target="/ppt/notesMasters/notesMaster1.xml" Id="R02cd216fa57f48b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0a8384bbc5e444c" /><Relationship Type="http://schemas.openxmlformats.org/officeDocument/2006/relationships/notesMaster" Target="/ppt/notesMasters/notesMaster1.xml" Id="Rc886c87a201a490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55f4931bf2446ac" /><Relationship Type="http://schemas.openxmlformats.org/officeDocument/2006/relationships/notesMaster" Target="/ppt/notesMasters/notesMaster1.xml" Id="Rb72933545ef2463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5862e6a8b9494e" /><Relationship Type="http://schemas.openxmlformats.org/officeDocument/2006/relationships/notesMaster" Target="/ppt/notesMasters/notesMaster1.xml" Id="Rfa5a3dd9afcc4b9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61040d27e334396" /><Relationship Type="http://schemas.openxmlformats.org/officeDocument/2006/relationships/notesMaster" Target="/ppt/notesMasters/notesMaster1.xml" Id="R0edab67e3e17460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来源：newdoc/1004推进文档/01_数据合成管线_全流程.md、08_1.5B_SFT四模型效果_固定200条测试.md、13_GRPO500任务阶段评测_训练复盘与下一步改进.md，newdoc/1007推进文档/对齐_目前方案与交付接口.md。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来源：newdoc/1004推进文档/01_数据合成管线_全流程.md、02_模块功能与输入输出示例.md、03_新模型200条评测.md、07_1.5B_SFT详细执行方案.md，newdoc/1007推进文档/03_新增数据管线_TC6时间调度与TC7记忆.md。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newdoc/1004推进文档/06_1.5B_SFT与GRPO_框架数据量与Batch分析.md、07_1.5B_SFT详细执行方案.md、09_1.5B_SFT训练复盘_数据方法日志与调整.md、12_GRPO落地设计_轨迹预处理奖励判定与4x4冒烟.md、13_GRPO500任务阶段评测_训练复盘与下一步改进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来源：newdoc/1004推进文档/08_1.5B_SFT四模型效果_固定200条测试.md 与 13_GRPO500任务阶段评测_训练复盘与下一步改进.md。图表文件：assets/sft_four_models_full_20261005.png、assets/sft_loss_20261005.png、assets/grpo_coverage500_20261006.png。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来源：newdoc/1007推进文档/对齐_目前方案与交付接口.md 与 对齐_一次性调度与持久化调度-两个通用语义接口.md，newdoc/1007推进文档/01 至 03 号新方案文档。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0d609de402449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df2869e7b3402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69cc9b5cdb461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bfc7884b7944f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4f634c77fc41c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dd96473d20417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682CE88-8435-4607-8F2B-1186313073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673749E-BAFD-4838-A97C-5B59151E904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671D9B0-2078-45AE-8361-6BCFA836CB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4AB8DEE-F20B-4C54-B2D7-26DA1737E4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189774F-0A12-4C37-BF7B-46E5C2E2EF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532E54B-C30E-4E6B-97BE-076BEC35B1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BE32872-D4FB-4416-AE72-EBE2D798FC5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61F7FD3-2785-4CA9-BFA2-30FE4B22953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6736146-A41D-48B1-A3DD-13930FEC38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25145FE-1EB2-4FE0-931C-09E85DA8CC5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c65804b880342e0" /><Relationship Type="http://schemas.openxmlformats.org/officeDocument/2006/relationships/slideLayout" Target="/ppt/slideLayouts/slideLayout1.xml" Id="R62020b04609a48b6" /><Relationship Type="http://schemas.openxmlformats.org/officeDocument/2006/relationships/slideLayout" Target="/ppt/slideLayouts/slideLayout2.xml" Id="R2560378b65c949b6" /><Relationship Type="http://schemas.openxmlformats.org/officeDocument/2006/relationships/slideLayout" Target="/ppt/slideLayouts/slideLayout3.xml" Id="R4dd8b6077cdd487c" /><Relationship Type="http://schemas.openxmlformats.org/officeDocument/2006/relationships/slideLayout" Target="/ppt/slideLayouts/slideLayout4.xml" Id="R8d55113b7b7941d4" /><Relationship Type="http://schemas.openxmlformats.org/officeDocument/2006/relationships/slideLayout" Target="/ppt/slideLayouts/slideLayout5.xml" Id="Refd9b3c8c97c458a" /><Relationship Type="http://schemas.openxmlformats.org/officeDocument/2006/relationships/slideLayout" Target="/ppt/slideLayouts/slideLayout6.xml" Id="R6ab9993a06f944f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020b04609a48b6"/>
    <p:sldLayoutId xmlns:r="http://schemas.openxmlformats.org/officeDocument/2006/relationships" id="2147483650" r:id="R2560378b65c949b6"/>
    <p:sldLayoutId xmlns:r="http://schemas.openxmlformats.org/officeDocument/2006/relationships" id="2147483651" r:id="R4dd8b6077cdd487c"/>
    <p:sldLayoutId xmlns:r="http://schemas.openxmlformats.org/officeDocument/2006/relationships" id="2147483652" r:id="R8d55113b7b7941d4"/>
    <p:sldLayoutId xmlns:r="http://schemas.openxmlformats.org/officeDocument/2006/relationships" id="2147483653" r:id="Refd9b3c8c97c458a"/>
    <p:sldLayoutId xmlns:r="http://schemas.openxmlformats.org/officeDocument/2006/relationships" id="2147483654" r:id="R6ab9993a06f944f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a16d434b594667" /><Relationship Type="http://schemas.openxmlformats.org/officeDocument/2006/relationships/notesSlide" Target="/ppt/notesSlides/notesSlide1.xml" Id="R0d692e8c74874ce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47292c9b824095" /><Relationship Type="http://schemas.openxmlformats.org/officeDocument/2006/relationships/notesSlide" Target="/ppt/notesSlides/notesSlide2.xml" Id="R7cef50bb3f06427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cb8fbf36194940" /><Relationship Type="http://schemas.openxmlformats.org/officeDocument/2006/relationships/notesSlide" Target="/ppt/notesSlides/notesSlide3.xml" Id="Re08bf9c515af452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5850f2d6a649d6" /><Relationship Type="http://schemas.openxmlformats.org/officeDocument/2006/relationships/image" Target="/ppt/media/image.png" Id="Rd76bd50a7a744357" /><Relationship Type="http://schemas.openxmlformats.org/officeDocument/2006/relationships/image" Target="/ppt/media/image2.png" Id="R40654f2be1f94d5f" /><Relationship Type="http://schemas.openxmlformats.org/officeDocument/2006/relationships/image" Target="/ppt/media/image3.png" Id="Rde583cfa4a0640b1" /><Relationship Type="http://schemas.openxmlformats.org/officeDocument/2006/relationships/notesSlide" Target="/ppt/notesSlides/notesSlide4.xml" Id="Rfeca864573bb404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7bd213ba9a40ea" /><Relationship Type="http://schemas.openxmlformats.org/officeDocument/2006/relationships/notesSlide" Target="/ppt/notesSlides/notesSlide5.xml" Id="R1c6596c5e91f445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78EE3F-BCEB-42F4-9777-232725EF4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441CB4-855C-46EC-A8E7-E79F3D06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项目进度总览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6FE663-0638-4B5F-9848-0F80A131D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数据管线、训练模型、适配 MCP 三条线并行推进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2EC85B-FB63-4B5F-8D28-8B75507F6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数据管线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CB806B-EBB8-46E0-8435-D5773E94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3429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D0 到 D6 的合成主链已经跑通</a:t>
            </a:r>
          </a:p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15 户型、21 设备、100 画像</a:t>
            </a:r>
          </a:p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250 条评测集，每类 50 条并带成功轨迹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33F1D3-CA99-4065-9E9B-BE8CF262F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5240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1">
                <a:solidFill>
                  <a:srgbClr val="4338C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338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4338CA"/>
                </a:solidFill>
                <a:latin typeface="Microsoft YaHei"/>
                <a:ea typeface="Microsoft YaHei"/>
                <a:cs typeface="Microsoft YaHei"/>
              </a:rPr>
              <a:t>训练模型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18AC6C-CB6E-4829-A9C4-46A34AC7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943100"/>
            <a:ext cx="3429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SFT 完整成功率 0% 到 88%</a:t>
            </a:r>
          </a:p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GRPO 一期 89.5%，500 覆盖 91%</a:t>
            </a:r>
          </a:p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固定 200 条测试，同一套评测口径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CFADBC-4114-4319-8D54-286BCB6CB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240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适配 MCP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4578D0-6B12-4F64-800D-B608C610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943100"/>
            <a:ext cx="3429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契约 10 个工具，当前开放 8 个</a:t>
            </a:r>
          </a:p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离线 36/36，真机 22/22，stdio 9/9</a:t>
            </a:r>
          </a:p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真机 4 房间 14 台设备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368A6E-5B79-448C-B21B-CAF8AF61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08204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85FD8E-DEB9-4BF0-BF3A-DFEB62EE4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62550"/>
            <a:ext cx="1036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三条线已经打通：数据可批量合成，训练有固定评测，MCP v2 接口可对接。</a:t>
            </a:r>
          </a:p>
        </p:txBody>
      </p:sp>
    </p:spTree>
    <p:extLst>
      <p:ext uri="{BB962C8B-B14F-4D97-AF65-F5344CB8AC3E}">
        <p14:creationId xmlns:p14="http://schemas.microsoft.com/office/powerpoint/2010/main" val="5233880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475A9D-9E6F-4B9E-A653-2AEE0AF2C62F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9925050" y="15906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4A3B8"/>
            </a:solidFill>
            <a:prstDash val="solid"/>
            <a:tailEnd type="arrow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8CBD59-F0B3-4283-BD6D-9DE00D2EE7EE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591550" y="15906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4A3B8"/>
            </a:solidFill>
            <a:prstDash val="solid"/>
            <a:tailEnd type="arrow" w="sm" len="sm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4FA6BB-516D-4F67-96B5-AEE6814B685B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258050" y="15906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4A3B8"/>
            </a:solidFill>
            <a:prstDash val="solid"/>
            <a:tailEnd type="arrow" w="sm" len="sm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CA9DD3-DA12-4C72-9683-7A076CACCC45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24550" y="15906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4A3B8"/>
            </a:solidFill>
            <a:prstDash val="solid"/>
            <a:tailEnd type="arrow" w="sm" len="sm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950106-904E-4CF6-AE98-FF0ED7F97314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591050" y="15906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4A3B8"/>
            </a:solidFill>
            <a:prstDash val="solid"/>
            <a:tailEnd type="arrow" w="sm" len="sm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800C0C-F54C-4BE2-AB2B-582AB1CE43BA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257550" y="15906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4A3B8"/>
            </a:solidFill>
            <a:prstDash val="solid"/>
            <a:tailEnd type="arrow" w="sm" len="sm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962803-24ED-4C25-8092-577F6B2703F6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1924050" y="15906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4A3B8"/>
            </a:solidFill>
            <a:prstDash val="solid"/>
            <a:tailEnd type="arrow" w="sm" len="sm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2FECE0-5F5F-43E9-995E-8D103526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F01891-A438-43B7-B959-46907CCC3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数据管线：从静态素材到可训练轨迹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227DB5-F88C-452B-A398-9CD1E8CAD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57300"/>
            <a:ext cx="1200150" cy="666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1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D0 静态库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1C166E-29E3-444C-A6EE-A6854B4C6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257300"/>
            <a:ext cx="1200150" cy="666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1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D1 造家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181BF1-C27A-4DB3-9C70-D39C1CB83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257300"/>
            <a:ext cx="1200150" cy="666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1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D2 出题写话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5DD36F-B66E-45BE-ADF5-00059CEB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257300"/>
            <a:ext cx="1200150" cy="666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1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D3 审查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B43706-0B87-4A5C-92C4-48E9C6FF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257300"/>
            <a:ext cx="1200150" cy="666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1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D4 Oracle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80B70D-4476-45B6-937F-705A24385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257300"/>
            <a:ext cx="1200150" cy="666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1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D5 跑轨迹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6968C1-EC0E-4C8B-AF0F-AD4D05672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257300"/>
            <a:ext cx="1200150" cy="666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1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D6 复核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DACFBE-10BD-4811-8F59-CB4D5D680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1257300"/>
            <a:ext cx="1200150" cy="666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1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数据集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26C61F-8C7A-4766-A035-2B20FDD40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怎么造数据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2AE89A-2597-4B84-AF1E-1A73AE9F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519112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抽样组装户型、设备与画像，新方案再加入时间抽样</a:t>
            </a:r>
          </a:p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task 与用户话分两步由外部模型生成，再经程序与模型双重审查</a:t>
            </a:r>
          </a:p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Oracle 在副本家上验证任务可执行，D5 用 A 提示词跑出真实轨迹</a:t>
            </a:r>
          </a:p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记忆不抽样，由 D2 依据本轮 s0 与画像现场生成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CD1732-1256-4CAD-B2B9-9288CF9F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40030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1">
                <a:solidFill>
                  <a:srgbClr val="4338C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338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4338CA"/>
                </a:solidFill>
                <a:latin typeface="Microsoft YaHei"/>
                <a:ea typeface="Microsoft YaHei"/>
                <a:cs typeface="Microsoft YaHei"/>
              </a:rPr>
              <a:t>数据规模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10D644-CD1A-4454-B8DA-48B64879E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819400"/>
            <a:ext cx="519112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静态库：15 户型、21 设备、100 画像、19 份提示词模板</a:t>
            </a:r>
          </a:p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评测集：250 条，T1 至 T5 各 50 条，全部带成功轨迹</a:t>
            </a:r>
          </a:p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训练划分：500 训练、100 验证、200 测试</a:t>
            </a:r>
          </a:p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另有 1000 条批次，用于对比不同数据量与失败分布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54E1DF-AA73-47A7-8945-25250CCA1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108204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724193-3F7D-49F5-BA66-E8FEB805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10250"/>
            <a:ext cx="10363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只有通过程序审查、模型审查与 Oracle 三层检查的蓝图，才进入轨迹合成与数据集。</a:t>
            </a:r>
          </a:p>
        </p:txBody>
      </p:sp>
    </p:spTree>
    <p:extLst>
      <p:ext uri="{BB962C8B-B14F-4D97-AF65-F5344CB8AC3E}">
        <p14:creationId xmlns:p14="http://schemas.microsoft.com/office/powerpoint/2010/main" val="184095360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CAB7AC-EC84-4254-A35A-27B80FE8D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6868F7-DC67-425E-A787-3220CBDF6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训练模型：SFT 打底，GRPO 用反馈采样提升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BBE4E6-3D0C-414A-8F08-6A4ACB86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SFT 监督微调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643FA9-18E9-4F1D-89A3-41A37318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5191125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基座 Qwen2.5-1.5B，LoRA r16 与 alpha32，约 1846 万可训练参数</a:t>
            </a:r>
          </a:p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500 训练、100 验证、200 测试，3 个 epoch、189 次更新</a:t>
            </a:r>
          </a:p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固定 A 提示词与工具表，训练后固定 200 条成功率 88%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969D17-B7DE-4063-8974-06928A508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52400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1">
                <a:solidFill>
                  <a:srgbClr val="4338C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338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4338CA"/>
                </a:solidFill>
                <a:latin typeface="Microsoft YaHei"/>
                <a:ea typeface="Microsoft YaHei"/>
                <a:cs typeface="Microsoft YaHei"/>
              </a:rPr>
              <a:t>GRPO 组相对策略优化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19AD8A-1B14-4F5D-B01D-3BEF23038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943100"/>
            <a:ext cx="519112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一期：100 个任务，每组 4 条，共 400 条轨迹，25 次更新</a:t>
            </a:r>
          </a:p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500 池：首遍 2000 条候选，每次 8 组乘 4 条，micro16 累计 2</a:t>
            </a:r>
          </a:p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奖励 r2 覆盖成功、进度、取证、真实性与安全，KL 固定在 SFT epoch3</a:t>
            </a:r>
          </a:p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动态采样优先选有差异的组，同时保留简单与困难锚点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469790-E695-43B6-B96A-9CA87EA19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08204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E32B93-DC88-4D56-BB0D-4022AEEB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62550"/>
            <a:ext cx="1036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GRPO 的目的不是重复成功轨迹，而是让同一任务的多条路径产生可比较的优势信号。</a:t>
            </a:r>
          </a:p>
        </p:txBody>
      </p:sp>
    </p:spTree>
    <p:extLst>
      <p:ext uri="{BB962C8B-B14F-4D97-AF65-F5344CB8AC3E}">
        <p14:creationId xmlns:p14="http://schemas.microsoft.com/office/powerpoint/2010/main" val="10406017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083BA9-98E0-4F30-A148-17F532D8D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47804D-25C1-4759-B244-C5BBC9FF4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训练效果：固定 200 条测试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30C3CB-FF03-41AD-83E1-DEBC98C24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88%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2630C7-447F-4682-8B07-3AA034FAD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SFT epoch3 完整成功率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C27BCD-3389-4976-BE8F-84276D939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0287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89.5%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8DB63F-B826-4C8B-AD1D-DC1AD6EA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4287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GRPO 一期 179/200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47193D-64CD-440C-AAF7-AFEB18D5B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0287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91%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0F30EA-AA01-4F72-BF40-5EE1E6C5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287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GRPO 500 覆盖 182/200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D19FDB-122E-4E59-99B0-0FF669C8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0287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182/200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1C1A77-C460-4869-B554-EFF63A190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4287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严格安全成功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B31FA4-17E6-460A-BFD1-EC954F58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SFT：四模型完整成功率与分类结果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6E33EA-DF69-4A4F-8F7D-53828ABDD4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6bd50a7a744357"/>
          <a:stretch xmlns:a="http://schemas.openxmlformats.org/drawingml/2006/main"/>
        </p:blipFill>
        <p:spPr>
          <a:xfrm xmlns:a="http://schemas.openxmlformats.org/drawingml/2006/main">
            <a:off x="714172" y="2114550"/>
            <a:ext cx="5277255" cy="20002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E4A5B-1DA0-4ADB-9DD5-90EC78A7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SFT：训练与验证 loss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12BE7B-5115-4D35-AFA4-DFD89B32C1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654f2be1f94d5f"/>
          <a:stretch xmlns:a="http://schemas.openxmlformats.org/drawingml/2006/main"/>
        </p:blipFill>
        <p:spPr>
          <a:xfrm xmlns:a="http://schemas.openxmlformats.org/drawingml/2006/main">
            <a:off x="694083" y="4514850"/>
            <a:ext cx="5317435" cy="203835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5576B0-FEAB-473D-8A60-D267EE792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66900"/>
            <a:ext cx="521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GRPO 500：奖励、有效组、KL 与固定 200 评测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5A17E3-411B-4910-9283-11E5499376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583cfa4a0640b1"/>
          <a:stretch xmlns:a="http://schemas.openxmlformats.org/drawingml/2006/main"/>
        </p:blipFill>
        <p:spPr>
          <a:xfrm xmlns:a="http://schemas.openxmlformats.org/drawingml/2006/main">
            <a:off x="6286500" y="2116138"/>
            <a:ext cx="5219700" cy="3044825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1E0393-D5A2-4240-8172-AE39BA8C1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95900"/>
            <a:ext cx="52197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分类上 T2 从 34 提升到 37，T5 从 37 提升到 38，T3 从 26 提升到 28 后持平。McNemar 相对 SFT 的 p 约 0.146，相对 100 阶段的 p 约 0.453，当前属于合成分布下的诊断结果。</a:t>
            </a:r>
          </a:p>
        </p:txBody>
      </p:sp>
    </p:spTree>
    <p:extLst>
      <p:ext uri="{BB962C8B-B14F-4D97-AF65-F5344CB8AC3E}">
        <p14:creationId xmlns:p14="http://schemas.microsoft.com/office/powerpoint/2010/main" val="192750214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A5C4F-A6DB-4524-AD25-D0711968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C77899-4839-48FE-AB85-9C6AF7704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MCP 适配与下一步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E84BC7-0757-46C3-97D6-9BE4E50E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MCP v2 现状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20C4B0-3A5B-46DB-A762-AAC95DB5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5191125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125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契约 10 个工具，当前开放 8 个</a:t>
            </a:r>
          </a:p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125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开放：observe_home、inspect_room、inspect_device、execute_action、finish、inspect_time、time_control、memory</a:t>
            </a:r>
          </a:p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125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隐藏：check_goal、query_events</a:t>
            </a:r>
          </a:p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125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验收：离线 36/36，真机 8 工具 22/22，DeepSeek stdio 9/9</a:t>
            </a:r>
          </a:p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125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真机环境：4 房间、14 台设备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51EFA6-399A-4390-8A3F-45EBD5EA9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52400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1">
                <a:solidFill>
                  <a:srgbClr val="4338C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4338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4338CA"/>
                </a:solidFill>
                <a:latin typeface="Microsoft YaHei"/>
                <a:ea typeface="Microsoft YaHei"/>
                <a:cs typeface="Microsoft YaHei"/>
              </a:rPr>
              <a:t>对齐与下一步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DB67D5-4A63-4F30-9850-256C9A21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943100"/>
            <a:ext cx="5191125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125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A 提示词与 MCP 语义对齐：inspect_time 只读，time_control 一次性预约，memory 整段文本</a:t>
            </a:r>
          </a:p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125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契约与返回结构对齐：统一 {ok, data, error}，ACTION_CALL 立即执行与预约共用</a:t>
            </a:r>
          </a:p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125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待落地：12 轮上限、空气净化器、TC6 与 TC7 数据管线、task 与 world 分层</a:t>
            </a:r>
          </a:p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125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下一步：小批合成轨迹，跑 SFT 与 GRPO，再用固定 200 条复测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6DB572-7067-47F9-BEF4-34C588125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95900"/>
            <a:ext cx="108204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FA2129-6A9E-43D3-9A71-D279F3ACF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1036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三条线共用同一套环境与评测口径，新的时间与记忆任务继续用固定 200 条做回归。</a:t>
            </a:r>
          </a:p>
        </p:txBody>
      </p:sp>
    </p:spTree>
    <p:extLst>
      <p:ext uri="{BB962C8B-B14F-4D97-AF65-F5344CB8AC3E}">
        <p14:creationId xmlns:p14="http://schemas.microsoft.com/office/powerpoint/2010/main" val="9028093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2026-10-11T06:34:15.3720000Z</dcterms:created>
  <dcterms:modified xsi:type="dcterms:W3CDTF">2026-10-11T06:34:15.3720000Z</dcterms:modified>
</coreProperties>
</file>